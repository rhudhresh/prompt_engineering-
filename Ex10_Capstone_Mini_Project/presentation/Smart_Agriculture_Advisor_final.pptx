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d8a205971b4989" /><Relationship Type="http://schemas.openxmlformats.org/officeDocument/2006/relationships/extended-properties" Target="/docProps/app.xml" Id="R86ad3aa111b94e50" /><Relationship Type="http://schemas.openxmlformats.org/officeDocument/2006/relationships/officeDocument" Target="/ppt/presentation.xml" Id="R0ca17110fd1046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d4b33c68834ab0"/>
  </p:sldMasterIdLst>
  <p:notesMasterIdLst>
    <p:notesMasterId xmlns:r="http://schemas.openxmlformats.org/officeDocument/2006/relationships" r:id="R4d6470595adc4489"/>
  </p:notesMasterIdLst>
  <p:sldIdLst>
    <p:sldId xmlns:r="http://schemas.openxmlformats.org/officeDocument/2006/relationships" id="256" r:id="R11e3f97fe2dc44bd"/>
    <p:sldId xmlns:r="http://schemas.openxmlformats.org/officeDocument/2006/relationships" id="257" r:id="R230a54543033414f"/>
    <p:sldId xmlns:r="http://schemas.openxmlformats.org/officeDocument/2006/relationships" id="258" r:id="Re2613c1e69144448"/>
    <p:sldId xmlns:r="http://schemas.openxmlformats.org/officeDocument/2006/relationships" id="259" r:id="R667dd3a04d7d419d"/>
    <p:sldId xmlns:r="http://schemas.openxmlformats.org/officeDocument/2006/relationships" id="260" r:id="Rbccfa7a13c494f3f"/>
    <p:sldId xmlns:r="http://schemas.openxmlformats.org/officeDocument/2006/relationships" id="261" r:id="R43ea7ca2fc7a49f3"/>
    <p:sldId xmlns:r="http://schemas.openxmlformats.org/officeDocument/2006/relationships" id="262" r:id="R4e1cc27149c44fff"/>
    <p:sldId xmlns:r="http://schemas.openxmlformats.org/officeDocument/2006/relationships" id="263" r:id="R71260e99a62e4741"/>
    <p:sldId xmlns:r="http://schemas.openxmlformats.org/officeDocument/2006/relationships" id="264" r:id="R44137aee2c194a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3fcdb3a3f94106" /><Relationship Type="http://schemas.openxmlformats.org/officeDocument/2006/relationships/slideMaster" Target="/ppt/slideMasters/slideMaster1.xml" Id="R82d4b33c68834ab0" /><Relationship Type="http://schemas.openxmlformats.org/officeDocument/2006/relationships/notesMaster" Target="/ppt/notesMasters/notesMaster1.xml" Id="R4d6470595adc4489" /><Relationship Type="http://schemas.openxmlformats.org/officeDocument/2006/relationships/presProps" Target="/ppt/presProps.xml" Id="R8dcfd97d4d654098" /><Relationship Type="http://schemas.openxmlformats.org/officeDocument/2006/relationships/tableStyles" Target="/ppt/tableStyles.xml" Id="Re66327bf77474be2" /><Relationship Type="http://schemas.openxmlformats.org/officeDocument/2006/relationships/slide" Target="/ppt/slides/slide1.xml" Id="R11e3f97fe2dc44bd" /><Relationship Type="http://schemas.openxmlformats.org/officeDocument/2006/relationships/slide" Target="/ppt/slides/slide2.xml" Id="R230a54543033414f" /><Relationship Type="http://schemas.openxmlformats.org/officeDocument/2006/relationships/slide" Target="/ppt/slides/slide3.xml" Id="Re2613c1e69144448" /><Relationship Type="http://schemas.openxmlformats.org/officeDocument/2006/relationships/slide" Target="/ppt/slides/slide4.xml" Id="R667dd3a04d7d419d" /><Relationship Type="http://schemas.openxmlformats.org/officeDocument/2006/relationships/slide" Target="/ppt/slides/slide5.xml" Id="Rbccfa7a13c494f3f" /><Relationship Type="http://schemas.openxmlformats.org/officeDocument/2006/relationships/slide" Target="/ppt/slides/slide6.xml" Id="R43ea7ca2fc7a49f3" /><Relationship Type="http://schemas.openxmlformats.org/officeDocument/2006/relationships/slide" Target="/ppt/slides/slide7.xml" Id="R4e1cc27149c44fff" /><Relationship Type="http://schemas.openxmlformats.org/officeDocument/2006/relationships/slide" Target="/ppt/slides/slide8.xml" Id="R71260e99a62e4741" /><Relationship Type="http://schemas.openxmlformats.org/officeDocument/2006/relationships/slide" Target="/ppt/slides/slide9.xml" Id="R44137aee2c194a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ccc968b09d45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b95727b443420c" /><Relationship Type="http://schemas.openxmlformats.org/officeDocument/2006/relationships/notesMaster" Target="/ppt/notesMasters/notesMaster1.xml" Id="Rc3ec38f57e904b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6f355cdc9b4e1a" /><Relationship Type="http://schemas.openxmlformats.org/officeDocument/2006/relationships/notesMaster" Target="/ppt/notesMasters/notesMaster1.xml" Id="R1abae91bb98140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e53b476a7646b9" /><Relationship Type="http://schemas.openxmlformats.org/officeDocument/2006/relationships/notesMaster" Target="/ppt/notesMasters/notesMaster1.xml" Id="R58770af926c948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4ee626e70c47b9" /><Relationship Type="http://schemas.openxmlformats.org/officeDocument/2006/relationships/notesMaster" Target="/ppt/notesMasters/notesMaster1.xml" Id="Rb425cde943ee4e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b6f927dd1e49b9" /><Relationship Type="http://schemas.openxmlformats.org/officeDocument/2006/relationships/notesMaster" Target="/ppt/notesMasters/notesMaster1.xml" Id="R97b94f3d00b546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9e4393f90a4b1a" /><Relationship Type="http://schemas.openxmlformats.org/officeDocument/2006/relationships/notesMaster" Target="/ppt/notesMasters/notesMaster1.xml" Id="R274b36808826426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77fedf983aa431f" /><Relationship Type="http://schemas.openxmlformats.org/officeDocument/2006/relationships/notesMaster" Target="/ppt/notesMasters/notesMaster1.xml" Id="R2fe9a47b9f8647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8f1f8702b34a8f" /><Relationship Type="http://schemas.openxmlformats.org/officeDocument/2006/relationships/notesMaster" Target="/ppt/notesMasters/notesMaster1.xml" Id="Rb4687e3937d94de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63830a8e1be4447" /><Relationship Type="http://schemas.openxmlformats.org/officeDocument/2006/relationships/notesMaster" Target="/ppt/notesMasters/notesMaster1.xml" Id="R8717c34040c045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Prepared from the experiment materials in this folder. The sample outputs are illustrative and are not field-tested agronomic advice.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01_problem_statement.md. The listed conditions describe the project's prompt inputs; they are not measurements from a real farm.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prompt_repository/irrigation.md, pest_diagnosis.md and fertiliser_plan.md. The system is an educational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prompt_repository/system.md and task prompts. No claim is made that the prompt alone ensures safe or correct advice.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03_prompt_iteration.md. Iteration examples are prompt-design artifacts; they are not controlled multi-model trials.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04_output_evaluation.md and prompt_repository/validate_output.py. Use qualified agronomic review for real decisions.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Workflow summarises the prototype described in project_report.md. The validator does not execute irrigation equipment or make a diagnosis.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05_ethical_considerations.md. These are project safeguards and require validation with local stakeholders before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demo/demo_script.md and project_report.md. No field trial or agronomist validation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13504cf88b44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3e5e92742b4f58" /><Relationship Type="http://schemas.openxmlformats.org/officeDocument/2006/relationships/slideLayout" Target="/ppt/slideLayouts/slideLayout1.xml" Id="R9d032b5d08844c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032b5d08844c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ca5a5426624500" /><Relationship Type="http://schemas.openxmlformats.org/officeDocument/2006/relationships/notesSlide" Target="/ppt/notesSlides/notesSlide1.xml" Id="R9d9719b43c7c4d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5078efb65e4d36" /><Relationship Type="http://schemas.openxmlformats.org/officeDocument/2006/relationships/notesSlide" Target="/ppt/notesSlides/notesSlide2.xml" Id="R6914d870908047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65467eb1284bea" /><Relationship Type="http://schemas.openxmlformats.org/officeDocument/2006/relationships/notesSlide" Target="/ppt/notesSlides/notesSlide3.xml" Id="R113381abc45441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3433fdd3094aee" /><Relationship Type="http://schemas.openxmlformats.org/officeDocument/2006/relationships/notesSlide" Target="/ppt/notesSlides/notesSlide4.xml" Id="R8a0d1465daab40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75ad59a56f4e5d" /><Relationship Type="http://schemas.openxmlformats.org/officeDocument/2006/relationships/notesSlide" Target="/ppt/notesSlides/notesSlide5.xml" Id="Rc71c3b4d83c847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8c9083fe774a4f" /><Relationship Type="http://schemas.openxmlformats.org/officeDocument/2006/relationships/notesSlide" Target="/ppt/notesSlides/notesSlide6.xml" Id="R5df1bbcd8b6543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eb81e483804e78" /><Relationship Type="http://schemas.openxmlformats.org/officeDocument/2006/relationships/notesSlide" Target="/ppt/notesSlides/notesSlide7.xml" Id="R2c0c3c3ccac54e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3af6b1b4b8489e" /><Relationship Type="http://schemas.openxmlformats.org/officeDocument/2006/relationships/notesSlide" Target="/ppt/notesSlides/notesSlide8.xml" Id="R8478e13c1435415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a63820cf064702" /><Relationship Type="http://schemas.openxmlformats.org/officeDocument/2006/relationships/notesSlide" Target="/ppt/notesSlides/notesSlide9.xml" Id="R1c264a3daf2d497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C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8BF26E-EF59-43CE-A0DE-8ED75557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ED6B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ED6B5"/>
                </a:solidFill>
                <a:latin typeface="Arial"/>
                <a:ea typeface="Arial"/>
                <a:cs typeface="Arial"/>
              </a:rPr>
              <a:t>PROMPT ENGINEERING  / 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ABF05D-C188-4115-A2F2-E64A0B03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981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Smart Agriculture Advisor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3AAAEE-85E2-4C16-988C-5F1EBA1E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5200"/>
            <a:ext cx="9334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6F1E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6F1E8"/>
                </a:solidFill>
                <a:latin typeface="Arial"/>
                <a:ea typeface="Arial"/>
                <a:cs typeface="Arial"/>
              </a:rPr>
              <a:t>A prompt-based assistant for practical, cautious crop and irrigation guidance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6F1E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6F1E8"/>
                </a:solidFill>
                <a:latin typeface="Arial"/>
                <a:ea typeface="Arial"/>
                <a:cs typeface="Arial"/>
              </a:rPr>
              <a:t>Capstone mini project  ·  Agriculture domain</a:t>
            </a:r>
          </a:p>
        </p:txBody>
      </p:sp>
    </p:spTree>
    <p:extLst>
      <p:ext uri="{BB962C8B-B14F-4D97-AF65-F5344CB8AC3E}">
        <p14:creationId xmlns:p14="http://schemas.microsoft.com/office/powerpoint/2010/main" val="19142603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3D6B32-2336-48B5-8EFA-FB3FD12D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42C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C27"/>
                </a:solidFill>
                <a:latin typeface="Arial"/>
                <a:ea typeface="Arial"/>
                <a:cs typeface="Arial"/>
              </a:rPr>
              <a:t>Problem statement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31B779-8015-493C-AB4D-A2EBF712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382250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Farm decisions depend on several local conditions: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• Crop and growth stage</a:t>
            </a:r>
          </a:p>
          <a:p xmlns:a="http://schemas.openxmlformats.org/drawingml/2006/main">
            <a:pPr>
              <a:defRPr sz="1875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• Soil moisture and recent rainfall</a:t>
            </a:r>
          </a:p>
          <a:p xmlns:a="http://schemas.openxmlformats.org/drawingml/2006/main">
            <a:pPr>
              <a:defRPr sz="1875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• Weather forecast and water availability</a:t>
            </a:r>
          </a:p>
          <a:p xmlns:a="http://schemas.openxmlformats.org/drawingml/2006/main">
            <a:pPr>
              <a:defRPr sz="1875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• Budget, equipment and local practices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A general answer can be unsafe when these details are missing.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A0B423-B16B-4EDF-B0BB-29692C31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0645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0645A"/>
                </a:solidFill>
                <a:latin typeface="Arial"/>
                <a:ea typeface="Arial"/>
                <a:cs typeface="Arial"/>
              </a:rPr>
              <a:t>SMART AGRICULTURE ADVISOR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1094C6-43FA-4BF3-8A53-11E6FEB0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6B4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658266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DED49A-2E55-4B60-9A3E-1AC26D31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42C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C27"/>
                </a:solidFill>
                <a:latin typeface="Arial"/>
                <a:ea typeface="Arial"/>
                <a:cs typeface="Arial"/>
              </a:rPr>
              <a:t>Project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D66D5E-0D00-4C3E-9EDF-5A05D8D2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382250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The advisor supports three tasks: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• Irrigation: explain whether more information is needed before suggesting an action.</a:t>
            </a:r>
          </a:p>
          <a:p xmlns:a="http://schemas.openxmlformats.org/drawingml/2006/main">
            <a:pPr>
              <a:defRPr sz="1875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• Pest diagnosis: describe possible causes and safe next steps from user observations.</a:t>
            </a:r>
          </a:p>
          <a:p xmlns:a="http://schemas.openxmlformats.org/drawingml/2006/main">
            <a:pPr>
              <a:defRPr sz="1875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• Fertiliser planning: organise a plan only when crop, soil test and local guidance are supplied.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It does not replace an agronomist or local label instructions.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04E895-31EB-4635-B760-97C379B4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0645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0645A"/>
                </a:solidFill>
                <a:latin typeface="Arial"/>
                <a:ea typeface="Arial"/>
                <a:cs typeface="Arial"/>
              </a:rPr>
              <a:t>SMART AGRICULTURE ADVISOR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C320B4-88F3-49BA-A459-A9E441FC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6B4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223790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79761A-F61D-4717-AF7F-15CF0847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42C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C27"/>
                </a:solidFill>
                <a:latin typeface="Arial"/>
                <a:ea typeface="Arial"/>
                <a:cs typeface="Arial"/>
              </a:rPr>
              <a:t>Prompt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F0B41D-30AF-43F7-9D04-AB0BF7AC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382250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A shared system prompt sets the assistant's boundaries: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• Ask for crop, location, growth stage and missing measurements.</a:t>
            </a:r>
          </a:p>
          <a:p xmlns:a="http://schemas.openxmlformats.org/drawingml/2006/main">
            <a:pPr>
              <a:defRPr sz="1875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• Separate supplied facts from assumptions.</a:t>
            </a:r>
          </a:p>
          <a:p xmlns:a="http://schemas.openxmlformats.org/drawingml/2006/main">
            <a:pPr>
              <a:defRPr sz="1875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• Give a short recommendation, rationale and uncertainty.</a:t>
            </a:r>
          </a:p>
          <a:p xmlns:a="http://schemas.openxmlformats.org/drawingml/2006/main">
            <a:pPr>
              <a:defRPr sz="1875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• Avoid inventing chemical doses, local weather or soil values.</a:t>
            </a:r>
          </a:p>
          <a:p xmlns:a="http://schemas.openxmlformats.org/drawingml/2006/main">
            <a:pPr>
              <a:defRPr sz="1875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• Refer high-risk or unclear cases to qualified local advice.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Task prompts request structured fields for review.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955929-6E2C-4E1B-AC66-89ACB41B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0645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0645A"/>
                </a:solidFill>
                <a:latin typeface="Arial"/>
                <a:ea typeface="Arial"/>
                <a:cs typeface="Arial"/>
              </a:rPr>
              <a:t>SMART AGRICULTURE ADVISOR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4E590A-0C84-4A88-8953-12E8B3FD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6B4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188301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960D0B-1DAD-4BA5-B319-7803A807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42C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C27"/>
                </a:solidFill>
                <a:latin typeface="Arial"/>
                <a:ea typeface="Arial"/>
                <a:cs typeface="Arial"/>
              </a:rPr>
              <a:t>Prompt iteration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45B119-4FEA-44A8-B684-C73D5AE4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382250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The iteration record improves a vague request in stages: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1. Ask for a general irrigation recommendation.</a:t>
            </a:r>
          </a:p>
          <a:p xmlns:a="http://schemas.openxmlformats.org/drawingml/2006/main">
            <a:pPr>
              <a:defRPr sz="1875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2. Add crop, growth stage, soil moisture and forecast fields.</a:t>
            </a:r>
          </a:p>
          <a:p xmlns:a="http://schemas.openxmlformats.org/drawingml/2006/main">
            <a:pPr>
              <a:defRPr sz="1875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3. Require the assistant to name missing data and uncertainty.</a:t>
            </a:r>
          </a:p>
          <a:p xmlns:a="http://schemas.openxmlformats.org/drawingml/2006/main">
            <a:pPr>
              <a:defRPr sz="1875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4. Return a structured answer that a person can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The final prompt constrains unsupported assumptions instead of asking for more confident wording.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C94C1F-D9C8-4D3B-8707-C86BF1DC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0645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0645A"/>
                </a:solidFill>
                <a:latin typeface="Arial"/>
                <a:ea typeface="Arial"/>
                <a:cs typeface="Arial"/>
              </a:rPr>
              <a:t>SMART AGRICULTURE ADVISOR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F9110B-6B7A-4CE9-A205-7E5AE34B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6B4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961958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AE39C2-7B91-4E1D-99C3-B502B7A4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42C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C27"/>
                </a:solidFill>
                <a:latin typeface="Arial"/>
                <a:ea typeface="Arial"/>
                <a:cs typeface="Arial"/>
              </a:rPr>
              <a:t>Output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1B6815-0419-4E66-B896-2C598195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382250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Each sample is reviewed for: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• Completeness of required fields</a:t>
            </a:r>
          </a:p>
          <a:p xmlns:a="http://schemas.openxmlformats.org/drawingml/2006/main">
            <a:pPr>
              <a:defRPr sz="1875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• Consistency with supplied facts</a:t>
            </a:r>
          </a:p>
          <a:p xmlns:a="http://schemas.openxmlformats.org/drawingml/2006/main">
            <a:pPr>
              <a:defRPr sz="1875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• Clear uncertainty and safe escalation</a:t>
            </a:r>
          </a:p>
          <a:p xmlns:a="http://schemas.openxmlformats.org/drawingml/2006/main">
            <a:pPr>
              <a:defRPr sz="1875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• Actionability for a farmer</a:t>
            </a:r>
          </a:p>
          <a:p xmlns:a="http://schemas.openxmlformats.org/drawingml/2006/main">
            <a:pPr>
              <a:defRPr sz="1875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• Valid structured output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Current outputs are model self-evaluations; no agronomist has reviewed them. The validator checks format only.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1D417E-F163-4AE5-82A6-4F8A47EC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0645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0645A"/>
                </a:solidFill>
                <a:latin typeface="Arial"/>
                <a:ea typeface="Arial"/>
                <a:cs typeface="Arial"/>
              </a:rPr>
              <a:t>SMART AGRICULTURE ADVISOR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3618E2-87D4-4EEF-8F5B-7377EFD2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6B4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837320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B90083-7C7C-48FA-9F75-377F2D4F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42C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C27"/>
                </a:solidFill>
                <a:latin typeface="Arial"/>
                <a:ea typeface="Arial"/>
                <a:cs typeface="Arial"/>
              </a:rPr>
              <a:t>Prototype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4DA36E-3194-4C44-BC6E-68E98EE4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382250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Farmer question</a:t>
            </a:r>
          </a:p>
          <a:p xmlns:a="http://schemas.openxmlformats.org/drawingml/2006/main">
            <a:pPr>
              <a:defRPr sz="1875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        ↓</a:t>
            </a:r>
          </a:p>
          <a:p xmlns:a="http://schemas.openxmlformats.org/drawingml/2006/main">
            <a:pPr>
              <a:defRPr sz="1875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Task prompt + supplied farm details</a:t>
            </a:r>
          </a:p>
          <a:p xmlns:a="http://schemas.openxmlformats.org/drawingml/2006/main">
            <a:pPr>
              <a:defRPr sz="1875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        ↓</a:t>
            </a:r>
          </a:p>
          <a:p xmlns:a="http://schemas.openxmlformats.org/drawingml/2006/main">
            <a:pPr>
              <a:defRPr sz="1875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Language model drafts a structured response</a:t>
            </a:r>
          </a:p>
          <a:p xmlns:a="http://schemas.openxmlformats.org/drawingml/2006/main">
            <a:pPr>
              <a:defRPr sz="1875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        ↓</a:t>
            </a:r>
          </a:p>
          <a:p xmlns:a="http://schemas.openxmlformats.org/drawingml/2006/main">
            <a:pPr>
              <a:defRPr sz="1875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Validator checks required fields and format</a:t>
            </a:r>
          </a:p>
          <a:p xmlns:a="http://schemas.openxmlformats.org/drawingml/2006/main">
            <a:pPr>
              <a:defRPr sz="1875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        ↓</a:t>
            </a:r>
          </a:p>
          <a:p xmlns:a="http://schemas.openxmlformats.org/drawingml/2006/main">
            <a:pPr>
              <a:defRPr sz="1875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Farmer or agronomist reviews the advice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A format check is one guardrail; it is not a safety certification.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D66BCD-0676-4B89-8976-2231E5C5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0645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0645A"/>
                </a:solidFill>
                <a:latin typeface="Arial"/>
                <a:ea typeface="Arial"/>
                <a:cs typeface="Arial"/>
              </a:rPr>
              <a:t>SMART AGRICULTURE ADVISOR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82999E-2792-4A0A-BE15-F7A4D72E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6B4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772353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D1F94F-885F-4B25-B503-9705A2A8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42C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C27"/>
                </a:solidFill>
                <a:latin typeface="Arial"/>
                <a:ea typeface="Arial"/>
                <a:cs typeface="Arial"/>
              </a:rPr>
              <a:t>Ethical and practical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2B224-FA1A-4FBB-BBFA-E20640F6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382250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• Do not send personal or identifying farm data unless needed.</a:t>
            </a:r>
          </a:p>
          <a:p xmlns:a="http://schemas.openxmlformats.org/drawingml/2006/main">
            <a:pPr>
              <a:defRPr sz="1875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• Explain when a recommendation relies on incomplete information.</a:t>
            </a:r>
          </a:p>
          <a:p xmlns:a="http://schemas.openxmlformats.org/drawingml/2006/main">
            <a:pPr>
              <a:defRPr sz="1875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• Account for language, connectivity and local crop practices.</a:t>
            </a:r>
          </a:p>
          <a:p xmlns:a="http://schemas.openxmlformats.org/drawingml/2006/main">
            <a:pPr>
              <a:defRPr sz="1875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• Do not automate chemical application or irrigation from an unverified answer.</a:t>
            </a:r>
          </a:p>
          <a:p xmlns:a="http://schemas.openxmlformats.org/drawingml/2006/main">
            <a:pPr>
              <a:defRPr sz="1875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• Keep a qualified person responsible for high-impact decisions.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Generated advice may be wrong even when its format is valid.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2E4A18-A119-479E-BAE4-19E4AE73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0645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0645A"/>
                </a:solidFill>
                <a:latin typeface="Arial"/>
                <a:ea typeface="Arial"/>
                <a:cs typeface="Arial"/>
              </a:rPr>
              <a:t>SMART AGRICULTURE ADVISOR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D9E6AB-41C9-4DCF-A3F4-7CA81B17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6B4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093148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0D16DC-32B9-41A7-80BF-56280507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42C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C27"/>
                </a:solidFill>
                <a:latin typeface="Arial"/>
                <a:ea typeface="Arial"/>
                <a:cs typeface="Arial"/>
              </a:rPr>
              <a:t>Demonstration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85F439-9494-4BAF-AAF6-76785425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382250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Demo: submit a sample irrigation question, inspect missing-data questions, review the structured answer, then run the validator.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Next steps:</a:t>
            </a:r>
          </a:p>
          <a:p xmlns:a="http://schemas.openxmlformats.org/drawingml/2006/main">
            <a:pPr>
              <a:defRPr sz="1875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• Test with local crop and soil examples reviewed by an agronomist.</a:t>
            </a:r>
          </a:p>
          <a:p xmlns:a="http://schemas.openxmlformats.org/drawingml/2006/main">
            <a:pPr>
              <a:defRPr sz="1875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• Measure factuality, unsafe suggestions and usefulness across repeated cases.</a:t>
            </a:r>
          </a:p>
          <a:p xmlns:a="http://schemas.openxmlformats.org/drawingml/2006/main">
            <a:pPr>
              <a:defRPr sz="1875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• Improve multilingual access and low-connectivity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Current status: prompt repository, report, sample outputs, validator and demo script are included.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56630B-1654-45B2-94BD-C0879C44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0645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0645A"/>
                </a:solidFill>
                <a:latin typeface="Arial"/>
                <a:ea typeface="Arial"/>
                <a:cs typeface="Arial"/>
              </a:rPr>
              <a:t>SMART AGRICULTURE ADVISOR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0A6389-B9C8-4EDB-B889-3A9231F6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6B4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621371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2026-09-29T05:16:01.9280000Z</dcterms:created>
  <dcterms:modified xsi:type="dcterms:W3CDTF">2026-09-29T05:16:01.9280000Z</dcterms:modified>
</coreProperties>
</file>